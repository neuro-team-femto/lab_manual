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0240288" cy="424799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378">
          <p15:clr>
            <a:srgbClr val="A4A3A4"/>
          </p15:clr>
        </p15:guide>
        <p15:guide id="2" pos="9525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iDsp6UmZ4UhxGcXqYtGf4EBRmA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99"/>
    <a:srgbClr val="E3978B"/>
    <a:srgbClr val="6391C0"/>
    <a:srgbClr val="00A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DC992-A5C6-4D7E-A742-9A116CF72DED}">
  <a:tblStyle styleId="{AE7DC992-A5C6-4D7E-A742-9A116CF72D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77" autoAdjust="0"/>
    <p:restoredTop sz="94660"/>
  </p:normalViewPr>
  <p:slideViewPr>
    <p:cSldViewPr snapToGrid="0">
      <p:cViewPr>
        <p:scale>
          <a:sx n="33" d="100"/>
          <a:sy n="33" d="100"/>
        </p:scale>
        <p:origin x="2268" y="-1788"/>
      </p:cViewPr>
      <p:guideLst>
        <p:guide orient="horz" pos="13378"/>
        <p:guide pos="9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09800" y="685800"/>
            <a:ext cx="2438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09800" y="685800"/>
            <a:ext cx="2438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74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3"/>
          <p:cNvGrpSpPr/>
          <p:nvPr/>
        </p:nvGrpSpPr>
        <p:grpSpPr>
          <a:xfrm rot="-5400000">
            <a:off x="-738516" y="39423553"/>
            <a:ext cx="3289982" cy="1832211"/>
            <a:chOff x="3230833" y="6645"/>
            <a:chExt cx="902409" cy="499560"/>
          </a:xfrm>
        </p:grpSpPr>
        <p:sp>
          <p:nvSpPr>
            <p:cNvPr id="148" name="Google Shape;148;p3"/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 extrusionOk="0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 extrusionOk="0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 extrusionOk="0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 extrusionOk="0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 extrusionOk="0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 extrusionOk="0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 extrusionOk="0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 extrusionOk="0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 extrusionOk="0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 extrusionOk="0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 extrusionOk="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 extrusionOk="0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gi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dt" idx="10"/>
          </p:nvPr>
        </p:nvSpPr>
        <p:spPr>
          <a:xfrm>
            <a:off x="1512022" y="39372592"/>
            <a:ext cx="7056067" cy="22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ftr" idx="11"/>
          </p:nvPr>
        </p:nvSpPr>
        <p:spPr>
          <a:xfrm>
            <a:off x="10332105" y="39372592"/>
            <a:ext cx="9576093" cy="22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1672214" y="39372592"/>
            <a:ext cx="7056067" cy="22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76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512022" y="39372592"/>
            <a:ext cx="7056067" cy="22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09/11/2024</a:t>
            </a:r>
            <a:endParaRPr sz="71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21672214" y="39372592"/>
            <a:ext cx="7056067" cy="22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1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71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38186715"/>
            <a:ext cx="30240288" cy="429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86150" tIns="286150" rIns="286150" bIns="286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72"/>
              <a:buFont typeface="Calibri"/>
              <a:buNone/>
            </a:pPr>
            <a:endParaRPr sz="437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2"/>
          <p:cNvGrpSpPr/>
          <p:nvPr/>
        </p:nvGrpSpPr>
        <p:grpSpPr>
          <a:xfrm rot="-5400000">
            <a:off x="-738516" y="39423553"/>
            <a:ext cx="3289982" cy="1832211"/>
            <a:chOff x="3230833" y="6645"/>
            <a:chExt cx="902409" cy="499560"/>
          </a:xfrm>
        </p:grpSpPr>
        <p:sp>
          <p:nvSpPr>
            <p:cNvPr id="17" name="Google Shape;17;p2"/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 extrusionOk="0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 extrusionOk="0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 extrusionOk="0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 extrusionOk="0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 extrusionOk="0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 extrusionOk="0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 extrusionOk="0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 extrusionOk="0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 extrusionOk="0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 extrusionOk="0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 extrusionOk="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 extrusionOk="0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 extrusionOk="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9" name="Google Shape;1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8863182" y="348687"/>
            <a:ext cx="10913650" cy="11517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7424" y="1341775"/>
            <a:ext cx="6312121" cy="2430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14405" y="39547179"/>
            <a:ext cx="3114975" cy="161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40958" y="40208027"/>
            <a:ext cx="2790259" cy="692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92620" y="39517168"/>
            <a:ext cx="1845322" cy="183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659794" y="40092937"/>
            <a:ext cx="2568740" cy="1040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323599" y="39846310"/>
            <a:ext cx="2743804" cy="141554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"/>
          <p:cNvSpPr txBox="1"/>
          <p:nvPr/>
        </p:nvSpPr>
        <p:spPr>
          <a:xfrm>
            <a:off x="2497159" y="41265767"/>
            <a:ext cx="9526907" cy="105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82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Besançon, Belfort, Montbéliard, Sévenans</a:t>
            </a:r>
            <a:endParaRPr sz="2782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www.femto-st.fr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82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2122724" y="38410675"/>
            <a:ext cx="12280060" cy="259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2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7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Zhenxing Hu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7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 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7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zhenxing.hu@femto-st.fr</a:t>
            </a:r>
            <a:endParaRPr/>
          </a:p>
        </p:txBody>
      </p:sp>
      <p:pic>
        <p:nvPicPr>
          <p:cNvPr id="278" name="Google Shape;2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85711" y="-231388"/>
            <a:ext cx="3441199" cy="41087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62798A7A-F520-4265-9EF3-C3F11705C93F}"/>
              </a:ext>
            </a:extLst>
          </p:cNvPr>
          <p:cNvGrpSpPr/>
          <p:nvPr/>
        </p:nvGrpSpPr>
        <p:grpSpPr>
          <a:xfrm>
            <a:off x="973202" y="4227450"/>
            <a:ext cx="13815600" cy="19088084"/>
            <a:chOff x="973202" y="4227450"/>
            <a:chExt cx="13815600" cy="19088084"/>
          </a:xfrm>
        </p:grpSpPr>
        <p:sp>
          <p:nvSpPr>
            <p:cNvPr id="162" name="Google Shape;441;g314cde35949_0_0">
              <a:extLst>
                <a:ext uri="{FF2B5EF4-FFF2-40B4-BE49-F238E27FC236}">
                  <a16:creationId xmlns:a16="http://schemas.microsoft.com/office/drawing/2014/main" id="{027AEB7F-BB26-4927-B121-B0AB259F1A2D}"/>
                </a:ext>
              </a:extLst>
            </p:cNvPr>
            <p:cNvSpPr/>
            <p:nvPr/>
          </p:nvSpPr>
          <p:spPr>
            <a:xfrm>
              <a:off x="973202" y="4864334"/>
              <a:ext cx="13815600" cy="18451200"/>
            </a:xfrm>
            <a:prstGeom prst="roundRect">
              <a:avLst>
                <a:gd name="adj" fmla="val 7038"/>
              </a:avLst>
            </a:prstGeom>
            <a:noFill/>
            <a:ln w="152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30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449;g314cde35949_0_0">
              <a:extLst>
                <a:ext uri="{FF2B5EF4-FFF2-40B4-BE49-F238E27FC236}">
                  <a16:creationId xmlns:a16="http://schemas.microsoft.com/office/drawing/2014/main" id="{76360B90-2E25-4896-8EE0-8CEA4CA29910}"/>
                </a:ext>
              </a:extLst>
            </p:cNvPr>
            <p:cNvSpPr txBox="1"/>
            <p:nvPr/>
          </p:nvSpPr>
          <p:spPr>
            <a:xfrm>
              <a:off x="1385250" y="5595200"/>
              <a:ext cx="10112700" cy="20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88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Context:</a:t>
              </a:r>
              <a:r>
                <a:rPr lang="en-US" sz="3095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The brain is an unknown, complex dynamical system which we are forced to study in a data-driven manner, using indirect measurements (e.g. electrodes on the scalp surface: EEG/electroencephalography). Control engineering </a:t>
              </a:r>
              <a:endParaRPr sz="309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451;g314cde35949_0_0">
              <a:extLst>
                <a:ext uri="{FF2B5EF4-FFF2-40B4-BE49-F238E27FC236}">
                  <a16:creationId xmlns:a16="http://schemas.microsoft.com/office/drawing/2014/main" id="{A5B5CFAD-63FA-421F-BE95-B714D76FF11B}"/>
                </a:ext>
              </a:extLst>
            </p:cNvPr>
            <p:cNvSpPr/>
            <p:nvPr/>
          </p:nvSpPr>
          <p:spPr>
            <a:xfrm>
              <a:off x="1485726" y="4227450"/>
              <a:ext cx="3441300" cy="131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dk1"/>
                  </a:solidFill>
                </a:rPr>
                <a:t>Overview</a:t>
              </a:r>
              <a:endParaRPr sz="5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5" name="Google Shape;452;g314cde35949_0_0">
              <a:extLst>
                <a:ext uri="{FF2B5EF4-FFF2-40B4-BE49-F238E27FC236}">
                  <a16:creationId xmlns:a16="http://schemas.microsoft.com/office/drawing/2014/main" id="{65E7ABD4-6436-4A5E-BF29-C2D70697327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650263" y="5766738"/>
              <a:ext cx="2619375" cy="1838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454;g314cde35949_0_0">
              <a:extLst>
                <a:ext uri="{FF2B5EF4-FFF2-40B4-BE49-F238E27FC236}">
                  <a16:creationId xmlns:a16="http://schemas.microsoft.com/office/drawing/2014/main" id="{4C6D798C-C8D5-4E1B-ABDE-6D25E5ECF828}"/>
                </a:ext>
              </a:extLst>
            </p:cNvPr>
            <p:cNvSpPr txBox="1"/>
            <p:nvPr/>
          </p:nvSpPr>
          <p:spPr>
            <a:xfrm>
              <a:off x="1396350" y="9821963"/>
              <a:ext cx="13104000" cy="298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88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Biological question:</a:t>
              </a:r>
              <a:r>
                <a:rPr lang="en-US" sz="3095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This PhD project focuses on one specific phenomenon: changes in brain activity that occur </a:t>
              </a:r>
              <a:r>
                <a:rPr lang="en-US" sz="3095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one transitions from wakefulness to sleep</a:t>
              </a:r>
              <a:r>
                <a:rPr lang="en-US" sz="3095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In the sleep neuroscience community, the “sleep onset” period was long thought a simple “step” function (“one </a:t>
              </a:r>
              <a:r>
                <a:rPr lang="en-US" sz="3095" i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falls</a:t>
              </a:r>
              <a:r>
                <a:rPr lang="en-US" sz="3095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asleep”), but it is now recognized that it is dynamically complex. Almost nothing is known about these dynamics and how they differ within (e.g. coffee) and between (e.g. insomnia) individuals. .</a:t>
              </a:r>
              <a:r>
                <a:rPr lang="en-US" sz="1600" dirty="0">
                  <a:solidFill>
                    <a:srgbClr val="2171B5"/>
                  </a:solidFill>
                </a:rPr>
                <a:t> </a:t>
              </a:r>
              <a:endParaRPr sz="1600" dirty="0">
                <a:solidFill>
                  <a:srgbClr val="2171B5"/>
                </a:solidFill>
              </a:endParaRPr>
            </a:p>
          </p:txBody>
        </p:sp>
        <p:sp>
          <p:nvSpPr>
            <p:cNvPr id="167" name="Google Shape;455;g314cde35949_0_0">
              <a:extLst>
                <a:ext uri="{FF2B5EF4-FFF2-40B4-BE49-F238E27FC236}">
                  <a16:creationId xmlns:a16="http://schemas.microsoft.com/office/drawing/2014/main" id="{E0B2971B-923A-490A-B9CD-CE11FEE8B55E}"/>
                </a:ext>
              </a:extLst>
            </p:cNvPr>
            <p:cNvSpPr txBox="1"/>
            <p:nvPr/>
          </p:nvSpPr>
          <p:spPr>
            <a:xfrm>
              <a:off x="5073525" y="8645775"/>
              <a:ext cx="952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1"/>
                  </a:solidFill>
                </a:rPr>
                <a:t>Pessoa. The entangled brain: How perception, cognition,</a:t>
              </a:r>
              <a:endParaRPr sz="2000">
                <a:solidFill>
                  <a:schemeClr val="accent1"/>
                </a:solidFill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1"/>
                  </a:solidFill>
                </a:rPr>
                <a:t> and emotion are woven together.MIT Press, 2022.</a:t>
              </a:r>
              <a:endParaRPr sz="1800">
                <a:solidFill>
                  <a:schemeClr val="accent1"/>
                </a:solidFill>
              </a:endParaRPr>
            </a:p>
          </p:txBody>
        </p:sp>
        <p:pic>
          <p:nvPicPr>
            <p:cNvPr id="168" name="Google Shape;456;g314cde35949_0_0">
              <a:extLst>
                <a:ext uri="{FF2B5EF4-FFF2-40B4-BE49-F238E27FC236}">
                  <a16:creationId xmlns:a16="http://schemas.microsoft.com/office/drawing/2014/main" id="{27BB0F6F-8BDC-46E8-929C-9E3746EEB5E7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41450" y="13580776"/>
              <a:ext cx="13048485" cy="377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457;g314cde35949_0_0">
              <a:extLst>
                <a:ext uri="{FF2B5EF4-FFF2-40B4-BE49-F238E27FC236}">
                  <a16:creationId xmlns:a16="http://schemas.microsoft.com/office/drawing/2014/main" id="{C408076F-BEED-4167-9F29-DF03DC172E35}"/>
                </a:ext>
              </a:extLst>
            </p:cNvPr>
            <p:cNvSpPr txBox="1"/>
            <p:nvPr/>
          </p:nvSpPr>
          <p:spPr>
            <a:xfrm>
              <a:off x="8086975" y="12968810"/>
              <a:ext cx="63921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accent1"/>
                  </a:solidFill>
                </a:rPr>
                <a:t>Lacaux</a:t>
              </a:r>
              <a:r>
                <a:rPr lang="en-US" sz="2000" dirty="0">
                  <a:solidFill>
                    <a:schemeClr val="accent1"/>
                  </a:solidFill>
                </a:rPr>
                <a:t> et al. Embracing sleep-onset complexity.</a:t>
              </a:r>
              <a:endParaRPr sz="2000" dirty="0">
                <a:solidFill>
                  <a:schemeClr val="accent1"/>
                </a:solidFill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accent1"/>
                  </a:solidFill>
                </a:rPr>
                <a:t> Trends in Neurosciences, 2024.</a:t>
              </a:r>
              <a:endParaRPr sz="2000" dirty="0">
                <a:solidFill>
                  <a:schemeClr val="accent1"/>
                </a:solidFill>
              </a:endParaRPr>
            </a:p>
          </p:txBody>
        </p:sp>
        <p:pic>
          <p:nvPicPr>
            <p:cNvPr id="170" name="Google Shape;484;g314cde35949_0_0">
              <a:extLst>
                <a:ext uri="{FF2B5EF4-FFF2-40B4-BE49-F238E27FC236}">
                  <a16:creationId xmlns:a16="http://schemas.microsoft.com/office/drawing/2014/main" id="{6DA08288-C709-447F-8DD3-6C64EA613D85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9532" y="18058951"/>
              <a:ext cx="6163088" cy="410872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71" name="Google Shape;485;g314cde35949_0_0">
              <a:extLst>
                <a:ext uri="{FF2B5EF4-FFF2-40B4-BE49-F238E27FC236}">
                  <a16:creationId xmlns:a16="http://schemas.microsoft.com/office/drawing/2014/main" id="{5531B94F-C316-486B-BEFD-5B64E3A6323B}"/>
                </a:ext>
              </a:extLst>
            </p:cNvPr>
            <p:cNvSpPr txBox="1"/>
            <p:nvPr/>
          </p:nvSpPr>
          <p:spPr>
            <a:xfrm>
              <a:off x="7865600" y="17982751"/>
              <a:ext cx="6470100" cy="4524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Our approach:</a:t>
              </a:r>
              <a:r>
                <a:rPr lang="en-US" sz="31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We model the wake-to-sleep dynamics using a stochastic dynamical model with cubic (i.e. bistable)  dynamics. We fit the model’s parameters from the EEG data of sleeping participants (recorded in FEMTO-ST). We then evaluate the model’s parameters as biomarkers for sleep disorders.   </a:t>
              </a:r>
              <a:endParaRPr sz="3100" dirty="0">
                <a:solidFill>
                  <a:srgbClr val="2171B5"/>
                </a:solidFill>
              </a:endParaRPr>
            </a:p>
          </p:txBody>
        </p:sp>
      </p:grpSp>
      <p:sp>
        <p:nvSpPr>
          <p:cNvPr id="172" name="Google Shape;453;g314cde35949_0_0">
            <a:extLst>
              <a:ext uri="{FF2B5EF4-FFF2-40B4-BE49-F238E27FC236}">
                <a16:creationId xmlns:a16="http://schemas.microsoft.com/office/drawing/2014/main" id="{55BDD272-4F35-4ED9-9128-A55531EA27E2}"/>
              </a:ext>
            </a:extLst>
          </p:cNvPr>
          <p:cNvSpPr txBox="1"/>
          <p:nvPr/>
        </p:nvSpPr>
        <p:spPr>
          <a:xfrm>
            <a:off x="1341450" y="7551375"/>
            <a:ext cx="132138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such as dynamical system identification are not mainstream in neuroscience, but they have a lot of potential to model brain behavior in both health and disease.   </a:t>
            </a:r>
            <a:endParaRPr sz="3595" dirty="0">
              <a:solidFill>
                <a:srgbClr val="2171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238B17BF-BE5D-4262-9C19-7EAA438067B9}"/>
              </a:ext>
            </a:extLst>
          </p:cNvPr>
          <p:cNvGrpSpPr/>
          <p:nvPr/>
        </p:nvGrpSpPr>
        <p:grpSpPr>
          <a:xfrm>
            <a:off x="15192150" y="4233500"/>
            <a:ext cx="14030354" cy="19082232"/>
            <a:chOff x="15192150" y="4233500"/>
            <a:chExt cx="14030354" cy="19082232"/>
          </a:xfrm>
        </p:grpSpPr>
        <p:sp>
          <p:nvSpPr>
            <p:cNvPr id="174" name="Google Shape;440;g314cde35949_0_0">
              <a:extLst>
                <a:ext uri="{FF2B5EF4-FFF2-40B4-BE49-F238E27FC236}">
                  <a16:creationId xmlns:a16="http://schemas.microsoft.com/office/drawing/2014/main" id="{C7ED1C15-0D9B-4D9D-8AEE-771AF36C62EC}"/>
                </a:ext>
              </a:extLst>
            </p:cNvPr>
            <p:cNvSpPr/>
            <p:nvPr/>
          </p:nvSpPr>
          <p:spPr>
            <a:xfrm>
              <a:off x="15192150" y="4849673"/>
              <a:ext cx="13985400" cy="11230462"/>
            </a:xfrm>
            <a:prstGeom prst="roundRect">
              <a:avLst>
                <a:gd name="adj" fmla="val 7038"/>
              </a:avLst>
            </a:prstGeom>
            <a:noFill/>
            <a:ln w="762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4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450;g314cde35949_0_0">
              <a:extLst>
                <a:ext uri="{FF2B5EF4-FFF2-40B4-BE49-F238E27FC236}">
                  <a16:creationId xmlns:a16="http://schemas.microsoft.com/office/drawing/2014/main" id="{A8536814-34D3-4B4F-90B8-3877432769F4}"/>
                </a:ext>
              </a:extLst>
            </p:cNvPr>
            <p:cNvSpPr/>
            <p:nvPr/>
          </p:nvSpPr>
          <p:spPr>
            <a:xfrm>
              <a:off x="15901075" y="4233500"/>
              <a:ext cx="4558500" cy="131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I. </a:t>
              </a:r>
              <a:r>
                <a:rPr lang="en-US" sz="5000" b="1" dirty="0">
                  <a:solidFill>
                    <a:schemeClr val="dk1"/>
                  </a:solidFill>
                </a:rPr>
                <a:t>Embedding</a:t>
              </a:r>
              <a:endParaRPr sz="5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458;g314cde35949_0_0">
              <a:extLst>
                <a:ext uri="{FF2B5EF4-FFF2-40B4-BE49-F238E27FC236}">
                  <a16:creationId xmlns:a16="http://schemas.microsoft.com/office/drawing/2014/main" id="{D45AEA05-C2BD-431E-852F-367D88B55410}"/>
                </a:ext>
              </a:extLst>
            </p:cNvPr>
            <p:cNvGrpSpPr/>
            <p:nvPr/>
          </p:nvGrpSpPr>
          <p:grpSpPr>
            <a:xfrm>
              <a:off x="15269613" y="16209246"/>
              <a:ext cx="13952891" cy="7106486"/>
              <a:chOff x="-10869747" y="-2015880"/>
              <a:chExt cx="14138100" cy="7448367"/>
            </a:xfrm>
          </p:grpSpPr>
          <p:sp>
            <p:nvSpPr>
              <p:cNvPr id="220" name="Google Shape;459;g314cde35949_0_0">
                <a:extLst>
                  <a:ext uri="{FF2B5EF4-FFF2-40B4-BE49-F238E27FC236}">
                    <a16:creationId xmlns:a16="http://schemas.microsoft.com/office/drawing/2014/main" id="{6EB8DABF-A60C-4FC1-81B8-7046E7F4E514}"/>
                  </a:ext>
                </a:extLst>
              </p:cNvPr>
              <p:cNvSpPr/>
              <p:nvPr/>
            </p:nvSpPr>
            <p:spPr>
              <a:xfrm>
                <a:off x="-10869747" y="-1538959"/>
                <a:ext cx="14138100" cy="6971446"/>
              </a:xfrm>
              <a:prstGeom prst="roundRect">
                <a:avLst>
                  <a:gd name="adj" fmla="val 6235"/>
                </a:avLst>
              </a:prstGeom>
              <a:noFill/>
              <a:ln w="762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4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and</a:t>
                </a:r>
                <a:endParaRPr sz="174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460;g314cde35949_0_0">
                <a:extLst>
                  <a:ext uri="{FF2B5EF4-FFF2-40B4-BE49-F238E27FC236}">
                    <a16:creationId xmlns:a16="http://schemas.microsoft.com/office/drawing/2014/main" id="{AC3B7413-8F78-4477-83E5-40AE41BF27D5}"/>
                  </a:ext>
                </a:extLst>
              </p:cNvPr>
              <p:cNvSpPr/>
              <p:nvPr/>
            </p:nvSpPr>
            <p:spPr>
              <a:xfrm>
                <a:off x="-10305214" y="-2015880"/>
                <a:ext cx="5814600" cy="1337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6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II. Model structure</a:t>
                </a:r>
                <a:endParaRPr sz="4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" name="Google Shape;486;g314cde35949_0_0">
              <a:extLst>
                <a:ext uri="{FF2B5EF4-FFF2-40B4-BE49-F238E27FC236}">
                  <a16:creationId xmlns:a16="http://schemas.microsoft.com/office/drawing/2014/main" id="{2B2BE013-6349-4BDA-B94E-29B56A89F3CD}"/>
                </a:ext>
              </a:extLst>
            </p:cNvPr>
            <p:cNvSpPr txBox="1"/>
            <p:nvPr/>
          </p:nvSpPr>
          <p:spPr>
            <a:xfrm>
              <a:off x="15710850" y="5595200"/>
              <a:ext cx="12465524" cy="2000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compute a low-dimensional representation of the wake-to-sleep EEG spectrogram by (1) applying singular value decomposition (SVD) on the wake and sleep states separately and (2) approximating the transition as a linear interpolation between these two states</a:t>
              </a:r>
              <a:endParaRPr sz="3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487;g314cde35949_0_0">
              <a:extLst>
                <a:ext uri="{FF2B5EF4-FFF2-40B4-BE49-F238E27FC236}">
                  <a16:creationId xmlns:a16="http://schemas.microsoft.com/office/drawing/2014/main" id="{0DEDF1D4-7CBD-440E-AEFA-0BD9846276C3}"/>
                </a:ext>
              </a:extLst>
            </p:cNvPr>
            <p:cNvGrpSpPr/>
            <p:nvPr/>
          </p:nvGrpSpPr>
          <p:grpSpPr>
            <a:xfrm>
              <a:off x="15935008" y="7589600"/>
              <a:ext cx="12867473" cy="8372400"/>
              <a:chOff x="1077520" y="7523294"/>
              <a:chExt cx="12148293" cy="8016468"/>
            </a:xfrm>
          </p:grpSpPr>
          <p:pic>
            <p:nvPicPr>
              <p:cNvPr id="183" name="Google Shape;488;g314cde35949_0_0">
                <a:extLst>
                  <a:ext uri="{FF2B5EF4-FFF2-40B4-BE49-F238E27FC236}">
                    <a16:creationId xmlns:a16="http://schemas.microsoft.com/office/drawing/2014/main" id="{6882FE13-3093-4635-B5C8-9F34D8BF0587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700" t="80032" r="9610" b="3245"/>
              <a:stretch/>
            </p:blipFill>
            <p:spPr>
              <a:xfrm>
                <a:off x="1102900" y="13217785"/>
                <a:ext cx="11531800" cy="2235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" name="Google Shape;491;g314cde35949_0_0">
                <a:extLst>
                  <a:ext uri="{FF2B5EF4-FFF2-40B4-BE49-F238E27FC236}">
                    <a16:creationId xmlns:a16="http://schemas.microsoft.com/office/drawing/2014/main" id="{23E30BE7-C020-43FE-8C6B-3F20B325D35E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</a:blip>
              <a:srcRect l="2700" t="38801" r="9610" b="47221"/>
              <a:stretch/>
            </p:blipFill>
            <p:spPr>
              <a:xfrm>
                <a:off x="1077520" y="11349357"/>
                <a:ext cx="11531800" cy="18690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9" name="Google Shape;494;g314cde35949_0_0">
                <a:extLst>
                  <a:ext uri="{FF2B5EF4-FFF2-40B4-BE49-F238E27FC236}">
                    <a16:creationId xmlns:a16="http://schemas.microsoft.com/office/drawing/2014/main" id="{A74C3FA5-01F1-4E43-8D1D-02A21E8470CC}"/>
                  </a:ext>
                </a:extLst>
              </p:cNvPr>
              <p:cNvSpPr txBox="1"/>
              <p:nvPr/>
            </p:nvSpPr>
            <p:spPr>
              <a:xfrm>
                <a:off x="11505613" y="9226700"/>
                <a:ext cx="15678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time [s]</a:t>
                </a:r>
                <a:endParaRPr sz="1600" dirty="0"/>
              </a:p>
            </p:txBody>
          </p:sp>
          <p:sp>
            <p:nvSpPr>
              <p:cNvPr id="190" name="Google Shape;495;g314cde35949_0_0">
                <a:extLst>
                  <a:ext uri="{FF2B5EF4-FFF2-40B4-BE49-F238E27FC236}">
                    <a16:creationId xmlns:a16="http://schemas.microsoft.com/office/drawing/2014/main" id="{5F54666E-0178-4CCE-9EA8-653DFDDABEDB}"/>
                  </a:ext>
                </a:extLst>
              </p:cNvPr>
              <p:cNvSpPr txBox="1"/>
              <p:nvPr/>
            </p:nvSpPr>
            <p:spPr>
              <a:xfrm>
                <a:off x="11658013" y="13341500"/>
                <a:ext cx="15678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time [s]</a:t>
                </a:r>
                <a:endParaRPr sz="1600" dirty="0"/>
              </a:p>
            </p:txBody>
          </p:sp>
          <p:sp>
            <p:nvSpPr>
              <p:cNvPr id="191" name="Google Shape;496;g314cde35949_0_0">
                <a:extLst>
                  <a:ext uri="{FF2B5EF4-FFF2-40B4-BE49-F238E27FC236}">
                    <a16:creationId xmlns:a16="http://schemas.microsoft.com/office/drawing/2014/main" id="{6CCA12B3-2219-44C8-9F71-ACDFC513F3C9}"/>
                  </a:ext>
                </a:extLst>
              </p:cNvPr>
              <p:cNvSpPr txBox="1"/>
              <p:nvPr/>
            </p:nvSpPr>
            <p:spPr>
              <a:xfrm>
                <a:off x="11658013" y="14985662"/>
                <a:ext cx="15678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time [s]</a:t>
                </a:r>
                <a:endParaRPr sz="1600" dirty="0"/>
              </a:p>
            </p:txBody>
          </p:sp>
          <p:sp>
            <p:nvSpPr>
              <p:cNvPr id="192" name="Google Shape;497;g314cde35949_0_0">
                <a:extLst>
                  <a:ext uri="{FF2B5EF4-FFF2-40B4-BE49-F238E27FC236}">
                    <a16:creationId xmlns:a16="http://schemas.microsoft.com/office/drawing/2014/main" id="{5BFDDDD2-2465-4D34-A3B0-DD028169971F}"/>
                  </a:ext>
                </a:extLst>
              </p:cNvPr>
              <p:cNvSpPr/>
              <p:nvPr/>
            </p:nvSpPr>
            <p:spPr>
              <a:xfrm>
                <a:off x="10811600" y="11289325"/>
                <a:ext cx="1670700" cy="336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93" name="Google Shape;498;g314cde35949_0_0">
                <a:extLst>
                  <a:ext uri="{FF2B5EF4-FFF2-40B4-BE49-F238E27FC236}">
                    <a16:creationId xmlns:a16="http://schemas.microsoft.com/office/drawing/2014/main" id="{BAA17FD7-EEEA-407B-A09D-20CBA6C7DD9D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724" t="193" r="11045" b="87434"/>
              <a:stretch/>
            </p:blipFill>
            <p:spPr>
              <a:xfrm>
                <a:off x="1102900" y="7523294"/>
                <a:ext cx="11208524" cy="163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" name="Google Shape;500;g314cde35949_0_0">
                <a:extLst>
                  <a:ext uri="{FF2B5EF4-FFF2-40B4-BE49-F238E27FC236}">
                    <a16:creationId xmlns:a16="http://schemas.microsoft.com/office/drawing/2014/main" id="{0F1A57F6-BEB1-4A82-AAB8-E32002C48E09}"/>
                  </a:ext>
                </a:extLst>
              </p:cNvPr>
              <p:cNvSpPr txBox="1"/>
              <p:nvPr/>
            </p:nvSpPr>
            <p:spPr>
              <a:xfrm>
                <a:off x="10474027" y="11415223"/>
                <a:ext cx="1567800" cy="43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frequency [Hz]</a:t>
                </a:r>
                <a:endParaRPr sz="1600" dirty="0"/>
              </a:p>
            </p:txBody>
          </p:sp>
          <p:sp>
            <p:nvSpPr>
              <p:cNvPr id="196" name="Google Shape;501;g314cde35949_0_0">
                <a:extLst>
                  <a:ext uri="{FF2B5EF4-FFF2-40B4-BE49-F238E27FC236}">
                    <a16:creationId xmlns:a16="http://schemas.microsoft.com/office/drawing/2014/main" id="{555CFF9D-DE42-4FCF-B847-7D4370F8DDDD}"/>
                  </a:ext>
                </a:extLst>
              </p:cNvPr>
              <p:cNvSpPr txBox="1"/>
              <p:nvPr/>
            </p:nvSpPr>
            <p:spPr>
              <a:xfrm>
                <a:off x="1764128" y="7541526"/>
                <a:ext cx="1829400" cy="5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“Wake”</a:t>
                </a:r>
                <a:endParaRPr sz="3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502;g314cde35949_0_0">
                <a:extLst>
                  <a:ext uri="{FF2B5EF4-FFF2-40B4-BE49-F238E27FC236}">
                    <a16:creationId xmlns:a16="http://schemas.microsoft.com/office/drawing/2014/main" id="{C2D83646-CFDF-418A-8DD8-61B8817F5792}"/>
                  </a:ext>
                </a:extLst>
              </p:cNvPr>
              <p:cNvSpPr txBox="1"/>
              <p:nvPr/>
            </p:nvSpPr>
            <p:spPr>
              <a:xfrm>
                <a:off x="10603328" y="7541526"/>
                <a:ext cx="1829400" cy="5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“</a:t>
                </a:r>
                <a:r>
                  <a:rPr lang="en-US" sz="3000" b="1" dirty="0">
                    <a:solidFill>
                      <a:schemeClr val="dk1"/>
                    </a:solidFill>
                  </a:rPr>
                  <a:t>Sleep</a:t>
                </a:r>
                <a:r>
                  <a:rPr lang="en-US" sz="30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”</a:t>
                </a:r>
                <a:endParaRPr sz="3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" name="Google Shape;503;g314cde35949_0_0">
              <a:extLst>
                <a:ext uri="{FF2B5EF4-FFF2-40B4-BE49-F238E27FC236}">
                  <a16:creationId xmlns:a16="http://schemas.microsoft.com/office/drawing/2014/main" id="{7671D4C1-B4BE-487A-94F5-4E698FA6A62B}"/>
                </a:ext>
              </a:extLst>
            </p:cNvPr>
            <p:cNvSpPr txBox="1"/>
            <p:nvPr/>
          </p:nvSpPr>
          <p:spPr>
            <a:xfrm>
              <a:off x="21726347" y="17703855"/>
              <a:ext cx="7058990" cy="2477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model the transition, 𝜇(t) as a stochastic cubic (i.e. bistable) dynamical model, which potential function is “forced” by a slowly-drifting hyperbolic tanh function 𝛽(t).  </a:t>
              </a:r>
              <a:endParaRPr sz="3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0AFBEF1F-DDEC-4D6D-BA12-D58FD3E0F6E9}"/>
                  </a:ext>
                </a:extLst>
              </p:cNvPr>
              <p:cNvSpPr txBox="1"/>
              <p:nvPr/>
            </p:nvSpPr>
            <p:spPr>
              <a:xfrm>
                <a:off x="21355895" y="20717635"/>
                <a:ext cx="80619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(1+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0AFBEF1F-DDEC-4D6D-BA12-D58FD3E0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895" y="20717635"/>
                <a:ext cx="8061971" cy="461665"/>
              </a:xfrm>
              <a:prstGeom prst="rect">
                <a:avLst/>
              </a:prstGeom>
              <a:blipFill>
                <a:blip r:embed="rId9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303087E-43A5-4907-83FD-25B28F266E44}"/>
                  </a:ext>
                </a:extLst>
              </p:cNvPr>
              <p:cNvSpPr txBox="1"/>
              <p:nvPr/>
            </p:nvSpPr>
            <p:spPr>
              <a:xfrm>
                <a:off x="21865267" y="20199964"/>
                <a:ext cx="71249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303087E-43A5-4907-83FD-25B28F266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5267" y="20199964"/>
                <a:ext cx="7124916" cy="461665"/>
              </a:xfrm>
              <a:prstGeom prst="rect">
                <a:avLst/>
              </a:prstGeom>
              <a:blipFill>
                <a:blip r:embed="rId10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6A23B08-7FE0-4C84-8A2C-D1EA92B4685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16739" y="21536591"/>
            <a:ext cx="6668111" cy="1595206"/>
          </a:xfrm>
          <a:prstGeom prst="rect">
            <a:avLst/>
          </a:prstGeom>
        </p:spPr>
      </p:pic>
      <p:sp>
        <p:nvSpPr>
          <p:cNvPr id="227" name="Google Shape;448;g314cde35949_0_0">
            <a:extLst>
              <a:ext uri="{FF2B5EF4-FFF2-40B4-BE49-F238E27FC236}">
                <a16:creationId xmlns:a16="http://schemas.microsoft.com/office/drawing/2014/main" id="{30F05E26-1773-4BE8-B909-F5D0DF96859E}"/>
              </a:ext>
            </a:extLst>
          </p:cNvPr>
          <p:cNvSpPr txBox="1"/>
          <p:nvPr/>
        </p:nvSpPr>
        <p:spPr>
          <a:xfrm>
            <a:off x="9334352" y="3412571"/>
            <a:ext cx="17353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Zhenxing H</a:t>
            </a:r>
            <a:r>
              <a:rPr lang="en-US" sz="4200" b="1" dirty="0">
                <a:solidFill>
                  <a:schemeClr val="dk1"/>
                </a:solidFill>
              </a:rPr>
              <a:t>u </a:t>
            </a:r>
            <a:r>
              <a:rPr lang="en-US" sz="4100" b="1" dirty="0">
                <a:solidFill>
                  <a:schemeClr val="dk1"/>
                </a:solidFill>
              </a:rPr>
              <a:t>(PhD student @ DATAPHM - AS2M Dept. - FEMTO-ST)</a:t>
            </a:r>
            <a:endParaRPr sz="4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442;g314cde35949_0_0">
            <a:extLst>
              <a:ext uri="{FF2B5EF4-FFF2-40B4-BE49-F238E27FC236}">
                <a16:creationId xmlns:a16="http://schemas.microsoft.com/office/drawing/2014/main" id="{E64CBF45-84B4-4FA8-AB6E-FF8D60B3A774}"/>
              </a:ext>
            </a:extLst>
          </p:cNvPr>
          <p:cNvSpPr txBox="1"/>
          <p:nvPr/>
        </p:nvSpPr>
        <p:spPr>
          <a:xfrm>
            <a:off x="9503425" y="904559"/>
            <a:ext cx="17353800" cy="24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49" b="1" dirty="0">
                <a:solidFill>
                  <a:schemeClr val="dk1"/>
                </a:solidFill>
              </a:rPr>
              <a:t>Modeling how people fall asleep </a:t>
            </a:r>
            <a:endParaRPr sz="7949" b="1" dirty="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49" b="1" dirty="0">
                <a:solidFill>
                  <a:schemeClr val="dk1"/>
                </a:solidFill>
              </a:rPr>
              <a:t>with a bistable dynamical system</a:t>
            </a:r>
            <a:endParaRPr dirty="0"/>
          </a:p>
        </p:txBody>
      </p:sp>
      <p:sp>
        <p:nvSpPr>
          <p:cNvPr id="229" name="Google Shape;439;g314cde35949_0_0">
            <a:extLst>
              <a:ext uri="{FF2B5EF4-FFF2-40B4-BE49-F238E27FC236}">
                <a16:creationId xmlns:a16="http://schemas.microsoft.com/office/drawing/2014/main" id="{2F74D19C-258C-4BB1-A54A-712C22885EBE}"/>
              </a:ext>
            </a:extLst>
          </p:cNvPr>
          <p:cNvSpPr/>
          <p:nvPr/>
        </p:nvSpPr>
        <p:spPr>
          <a:xfrm>
            <a:off x="1018950" y="23899675"/>
            <a:ext cx="28158600" cy="9701444"/>
          </a:xfrm>
          <a:prstGeom prst="roundRect">
            <a:avLst>
              <a:gd name="adj" fmla="val 7038"/>
            </a:avLst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4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506;g314cde35949_0_0">
            <a:extLst>
              <a:ext uri="{FF2B5EF4-FFF2-40B4-BE49-F238E27FC236}">
                <a16:creationId xmlns:a16="http://schemas.microsoft.com/office/drawing/2014/main" id="{1BE83DDE-FCF3-4FA5-917E-A352CEF65F60}"/>
              </a:ext>
            </a:extLst>
          </p:cNvPr>
          <p:cNvSpPr/>
          <p:nvPr/>
        </p:nvSpPr>
        <p:spPr>
          <a:xfrm>
            <a:off x="1727875" y="23435900"/>
            <a:ext cx="6778800" cy="131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Preliminary Results</a:t>
            </a:r>
            <a:endParaRPr sz="5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508;g314cde35949_0_0">
            <a:extLst>
              <a:ext uri="{FF2B5EF4-FFF2-40B4-BE49-F238E27FC236}">
                <a16:creationId xmlns:a16="http://schemas.microsoft.com/office/drawing/2014/main" id="{EA7BDF08-7D2D-4F4E-9925-8858BF0E5EC1}"/>
              </a:ext>
            </a:extLst>
          </p:cNvPr>
          <p:cNvSpPr txBox="1"/>
          <p:nvPr/>
        </p:nvSpPr>
        <p:spPr>
          <a:xfrm>
            <a:off x="1970325" y="24666650"/>
            <a:ext cx="20866800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fit model parameters to different individuals’ EEG recording using Bayesian Markov-Chain Monte-Carlo (MCMC).   </a:t>
            </a:r>
            <a:endParaRPr sz="3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6A8F95BF-50EE-4A7F-AB29-208594B97E6E}"/>
              </a:ext>
            </a:extLst>
          </p:cNvPr>
          <p:cNvGrpSpPr/>
          <p:nvPr/>
        </p:nvGrpSpPr>
        <p:grpSpPr>
          <a:xfrm>
            <a:off x="1470061" y="25225868"/>
            <a:ext cx="26492385" cy="7956468"/>
            <a:chOff x="1521723" y="25412216"/>
            <a:chExt cx="26492385" cy="7956468"/>
          </a:xfrm>
        </p:grpSpPr>
        <p:pic>
          <p:nvPicPr>
            <p:cNvPr id="238" name="Google Shape;447;g314cde35949_0_0">
              <a:extLst>
                <a:ext uri="{FF2B5EF4-FFF2-40B4-BE49-F238E27FC236}">
                  <a16:creationId xmlns:a16="http://schemas.microsoft.com/office/drawing/2014/main" id="{6B49A639-382E-4660-BB32-FE1112BB9E1B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926370" y="25624275"/>
              <a:ext cx="8174280" cy="7498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图片 238">
              <a:extLst>
                <a:ext uri="{FF2B5EF4-FFF2-40B4-BE49-F238E27FC236}">
                  <a16:creationId xmlns:a16="http://schemas.microsoft.com/office/drawing/2014/main" id="{362E1231-7C0C-4833-B2A3-713862587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101172" y="25412216"/>
              <a:ext cx="15912936" cy="7956468"/>
            </a:xfrm>
            <a:prstGeom prst="rect">
              <a:avLst/>
            </a:prstGeom>
          </p:spPr>
        </p:pic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3017A25B-73D8-400E-BF1E-4A3B474F4E93}"/>
                </a:ext>
              </a:extLst>
            </p:cNvPr>
            <p:cNvSpPr txBox="1"/>
            <p:nvPr/>
          </p:nvSpPr>
          <p:spPr>
            <a:xfrm>
              <a:off x="1521723" y="26435081"/>
              <a:ext cx="1470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Ind1</a:t>
              </a:r>
              <a:endParaRPr lang="zh-CN" altLang="en-US" sz="3600" dirty="0"/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69A3337-BA1F-46FA-A317-FB309CEABDEC}"/>
                </a:ext>
              </a:extLst>
            </p:cNvPr>
            <p:cNvSpPr txBox="1"/>
            <p:nvPr/>
          </p:nvSpPr>
          <p:spPr>
            <a:xfrm>
              <a:off x="1521723" y="28746034"/>
              <a:ext cx="1470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Ind2</a:t>
              </a:r>
              <a:endParaRPr lang="zh-CN" altLang="en-US" sz="3600" dirty="0"/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08F404CE-DD81-4BE7-AC89-3C3916589EB5}"/>
                </a:ext>
              </a:extLst>
            </p:cNvPr>
            <p:cNvSpPr txBox="1"/>
            <p:nvPr/>
          </p:nvSpPr>
          <p:spPr>
            <a:xfrm>
              <a:off x="1521723" y="31171287"/>
              <a:ext cx="1470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Ind3</a:t>
              </a:r>
              <a:endParaRPr lang="zh-CN" altLang="en-US" sz="3600" dirty="0"/>
            </a:p>
          </p:txBody>
        </p:sp>
      </p:grpSp>
      <p:sp>
        <p:nvSpPr>
          <p:cNvPr id="243" name="箭头: 下 242">
            <a:extLst>
              <a:ext uri="{FF2B5EF4-FFF2-40B4-BE49-F238E27FC236}">
                <a16:creationId xmlns:a16="http://schemas.microsoft.com/office/drawing/2014/main" id="{8F5047AE-A0AF-40D3-A3FE-9DBE920FE15F}"/>
              </a:ext>
            </a:extLst>
          </p:cNvPr>
          <p:cNvSpPr/>
          <p:nvPr/>
        </p:nvSpPr>
        <p:spPr>
          <a:xfrm rot="16200000">
            <a:off x="11433407" y="31170447"/>
            <a:ext cx="433711" cy="487353"/>
          </a:xfrm>
          <a:prstGeom prst="downArrow">
            <a:avLst/>
          </a:prstGeom>
          <a:solidFill>
            <a:schemeClr val="bg1">
              <a:lumMod val="75000"/>
              <a:alpha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箭头: 下 243">
            <a:extLst>
              <a:ext uri="{FF2B5EF4-FFF2-40B4-BE49-F238E27FC236}">
                <a16:creationId xmlns:a16="http://schemas.microsoft.com/office/drawing/2014/main" id="{A28B073E-EFBA-4173-8212-273FBCB3348E}"/>
              </a:ext>
            </a:extLst>
          </p:cNvPr>
          <p:cNvSpPr/>
          <p:nvPr/>
        </p:nvSpPr>
        <p:spPr>
          <a:xfrm rot="16200000">
            <a:off x="11433407" y="28701175"/>
            <a:ext cx="433711" cy="487353"/>
          </a:xfrm>
          <a:prstGeom prst="downArrow">
            <a:avLst/>
          </a:prstGeom>
          <a:solidFill>
            <a:schemeClr val="bg1">
              <a:lumMod val="75000"/>
              <a:alpha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箭头: 下 244">
            <a:extLst>
              <a:ext uri="{FF2B5EF4-FFF2-40B4-BE49-F238E27FC236}">
                <a16:creationId xmlns:a16="http://schemas.microsoft.com/office/drawing/2014/main" id="{DA533F05-F9B1-4289-9C5E-8FE2D1D5D840}"/>
              </a:ext>
            </a:extLst>
          </p:cNvPr>
          <p:cNvSpPr/>
          <p:nvPr/>
        </p:nvSpPr>
        <p:spPr>
          <a:xfrm rot="16200000">
            <a:off x="11433407" y="26280724"/>
            <a:ext cx="433711" cy="487353"/>
          </a:xfrm>
          <a:prstGeom prst="downArrow">
            <a:avLst/>
          </a:prstGeom>
          <a:solidFill>
            <a:schemeClr val="bg1">
              <a:lumMod val="75000"/>
              <a:alpha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A7751503-5743-43DE-80C0-BA1A10AC5F3B}"/>
              </a:ext>
            </a:extLst>
          </p:cNvPr>
          <p:cNvGrpSpPr/>
          <p:nvPr/>
        </p:nvGrpSpPr>
        <p:grpSpPr>
          <a:xfrm>
            <a:off x="17276826" y="34010803"/>
            <a:ext cx="11900726" cy="3789562"/>
            <a:chOff x="16732908" y="33957342"/>
            <a:chExt cx="18289732" cy="3789562"/>
          </a:xfrm>
        </p:grpSpPr>
        <p:sp>
          <p:nvSpPr>
            <p:cNvPr id="247" name="Google Shape;509;g314cde35949_0_0">
              <a:extLst>
                <a:ext uri="{FF2B5EF4-FFF2-40B4-BE49-F238E27FC236}">
                  <a16:creationId xmlns:a16="http://schemas.microsoft.com/office/drawing/2014/main" id="{2798D354-36F0-4259-A02F-C1B5D17C4C19}"/>
                </a:ext>
              </a:extLst>
            </p:cNvPr>
            <p:cNvSpPr/>
            <p:nvPr/>
          </p:nvSpPr>
          <p:spPr>
            <a:xfrm>
              <a:off x="16732908" y="34314633"/>
              <a:ext cx="18289732" cy="3432271"/>
            </a:xfrm>
            <a:prstGeom prst="roundRect">
              <a:avLst>
                <a:gd name="adj" fmla="val 7038"/>
              </a:avLst>
            </a:prstGeom>
            <a:noFill/>
            <a:ln w="76200" cap="flat" cmpd="sng">
              <a:solidFill>
                <a:srgbClr val="0032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4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510;g314cde35949_0_0">
              <a:extLst>
                <a:ext uri="{FF2B5EF4-FFF2-40B4-BE49-F238E27FC236}">
                  <a16:creationId xmlns:a16="http://schemas.microsoft.com/office/drawing/2014/main" id="{D644167B-7910-4F44-965B-3E8D2A62D6C2}"/>
                </a:ext>
              </a:extLst>
            </p:cNvPr>
            <p:cNvSpPr/>
            <p:nvPr/>
          </p:nvSpPr>
          <p:spPr>
            <a:xfrm>
              <a:off x="17277397" y="33957342"/>
              <a:ext cx="9658685" cy="80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00" b="1" dirty="0">
                  <a:solidFill>
                    <a:schemeClr val="dk1"/>
                  </a:solidFill>
                </a:rPr>
                <a:t>V</a:t>
              </a:r>
              <a:r>
                <a:rPr lang="en-US" sz="4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Acknowledgement</a:t>
              </a:r>
              <a:endParaRPr sz="5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文本框 248">
            <a:extLst>
              <a:ext uri="{FF2B5EF4-FFF2-40B4-BE49-F238E27FC236}">
                <a16:creationId xmlns:a16="http://schemas.microsoft.com/office/drawing/2014/main" id="{8AE36BE8-5605-4628-BA4C-B5CD07BCEBB5}"/>
              </a:ext>
            </a:extLst>
          </p:cNvPr>
          <p:cNvSpPr txBox="1"/>
          <p:nvPr/>
        </p:nvSpPr>
        <p:spPr>
          <a:xfrm>
            <a:off x="17566042" y="36021301"/>
            <a:ext cx="114841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Jean-Julien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Aucouturier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(FEMTO-ST).</a:t>
            </a:r>
          </a:p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Collaborators: methodology: Prof. Nathan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(University of Washington).</a:t>
            </a:r>
          </a:p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provider: Prof. Xu Lei (Southwest University).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0" name="图片 249">
            <a:extLst>
              <a:ext uri="{FF2B5EF4-FFF2-40B4-BE49-F238E27FC236}">
                <a16:creationId xmlns:a16="http://schemas.microsoft.com/office/drawing/2014/main" id="{3D8CEC80-0ED9-4EA0-BB47-079B6A300A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794" y="34811203"/>
            <a:ext cx="3138106" cy="1072857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8149D058-C803-4183-BE6D-7CA472FF50FC}"/>
              </a:ext>
            </a:extLst>
          </p:cNvPr>
          <p:cNvSpPr txBox="1"/>
          <p:nvPr/>
        </p:nvSpPr>
        <p:spPr>
          <a:xfrm>
            <a:off x="17566042" y="34882481"/>
            <a:ext cx="832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is supported by the Marie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Skłodowska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-Curie Actions (MSCA) Doctoral Networks LULLABYTE.</a:t>
            </a:r>
            <a:endParaRPr lang="zh-CN" altLang="en-US" sz="2800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24203501-0BB3-4915-B9E7-C40815B48314}"/>
              </a:ext>
            </a:extLst>
          </p:cNvPr>
          <p:cNvGrpSpPr/>
          <p:nvPr/>
        </p:nvGrpSpPr>
        <p:grpSpPr>
          <a:xfrm>
            <a:off x="1062736" y="34010803"/>
            <a:ext cx="15780807" cy="3792428"/>
            <a:chOff x="10769773" y="33954476"/>
            <a:chExt cx="24252867" cy="3792428"/>
          </a:xfrm>
        </p:grpSpPr>
        <p:sp>
          <p:nvSpPr>
            <p:cNvPr id="253" name="Google Shape;509;g314cde35949_0_0">
              <a:extLst>
                <a:ext uri="{FF2B5EF4-FFF2-40B4-BE49-F238E27FC236}">
                  <a16:creationId xmlns:a16="http://schemas.microsoft.com/office/drawing/2014/main" id="{A4E82CEF-F8F1-44E3-B2C9-178A882A71C3}"/>
                </a:ext>
              </a:extLst>
            </p:cNvPr>
            <p:cNvSpPr/>
            <p:nvPr/>
          </p:nvSpPr>
          <p:spPr>
            <a:xfrm>
              <a:off x="10769773" y="34314633"/>
              <a:ext cx="24252867" cy="3432271"/>
            </a:xfrm>
            <a:prstGeom prst="roundRect">
              <a:avLst>
                <a:gd name="adj" fmla="val 7038"/>
              </a:avLst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4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510;g314cde35949_0_0">
              <a:extLst>
                <a:ext uri="{FF2B5EF4-FFF2-40B4-BE49-F238E27FC236}">
                  <a16:creationId xmlns:a16="http://schemas.microsoft.com/office/drawing/2014/main" id="{DFA56AF0-7FE8-458A-8764-610E484C35CD}"/>
                </a:ext>
              </a:extLst>
            </p:cNvPr>
            <p:cNvSpPr/>
            <p:nvPr/>
          </p:nvSpPr>
          <p:spPr>
            <a:xfrm>
              <a:off x="11553912" y="33954476"/>
              <a:ext cx="7302418" cy="80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00" b="1" dirty="0">
                  <a:solidFill>
                    <a:schemeClr val="dk1"/>
                  </a:solidFill>
                </a:rPr>
                <a:t>IV</a:t>
              </a:r>
              <a:r>
                <a:rPr lang="en-US" sz="4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Discussion</a:t>
              </a:r>
              <a:endParaRPr sz="5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77F68BA5-E839-4489-BA85-5BD17D5890DB}"/>
                  </a:ext>
                </a:extLst>
              </p:cNvPr>
              <p:cNvSpPr txBox="1"/>
              <p:nvPr/>
            </p:nvSpPr>
            <p:spPr>
              <a:xfrm>
                <a:off x="1341450" y="34872861"/>
                <a:ext cx="15277013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current dynamic model provides an unified and continuous view, in contrast to the discrete classification of sleep-onset period.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estimated three parameters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offer a more objective and dynamic characterization of SOP than sleep-onset latency (the time marking the first N1 stage).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interplay between deterministic dynamics and noise may elucidate specific mechanisms for different types of sleep-onset disorder.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77F68BA5-E839-4489-BA85-5BD17D58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450" y="34872861"/>
                <a:ext cx="15277013" cy="3108543"/>
              </a:xfrm>
              <a:prstGeom prst="rect">
                <a:avLst/>
              </a:prstGeom>
              <a:blipFill>
                <a:blip r:embed="rId15"/>
                <a:stretch>
                  <a:fillRect l="-718" t="-2157" r="-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文本框 91">
            <a:extLst>
              <a:ext uri="{FF2B5EF4-FFF2-40B4-BE49-F238E27FC236}">
                <a16:creationId xmlns:a16="http://schemas.microsoft.com/office/drawing/2014/main" id="{D1276CF7-BBAB-453D-94A5-1765D46A9314}"/>
              </a:ext>
            </a:extLst>
          </p:cNvPr>
          <p:cNvSpPr txBox="1"/>
          <p:nvPr/>
        </p:nvSpPr>
        <p:spPr>
          <a:xfrm>
            <a:off x="21533299" y="24456027"/>
            <a:ext cx="7384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altLang="zh-CN" sz="2000" dirty="0">
                <a:solidFill>
                  <a:schemeClr val="accent1"/>
                </a:solidFill>
              </a:rPr>
              <a:t>Patil, Anand, et al., </a:t>
            </a:r>
            <a:r>
              <a:rPr lang="en-CA" altLang="zh-CN" sz="2000" dirty="0" err="1">
                <a:solidFill>
                  <a:schemeClr val="accent1"/>
                </a:solidFill>
              </a:rPr>
              <a:t>PyMC</a:t>
            </a:r>
            <a:r>
              <a:rPr lang="en-CA" altLang="zh-CN" sz="2000" dirty="0">
                <a:solidFill>
                  <a:schemeClr val="accent1"/>
                </a:solidFill>
              </a:rPr>
              <a:t>: Bayesian stochastic modelling in Python. Journal of statistical software, 2010.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59B902-A7DA-43B6-B6FD-1841763368B9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43337" y="17117047"/>
            <a:ext cx="5297420" cy="4420257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4989FFB1-FD2A-429D-8285-C16118EA756C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66198" y="21862970"/>
            <a:ext cx="8360946" cy="1194421"/>
          </a:xfrm>
          <a:prstGeom prst="rect">
            <a:avLst/>
          </a:prstGeom>
        </p:spPr>
      </p:pic>
      <p:sp>
        <p:nvSpPr>
          <p:cNvPr id="126" name="文本框 125">
            <a:extLst>
              <a:ext uri="{FF2B5EF4-FFF2-40B4-BE49-F238E27FC236}">
                <a16:creationId xmlns:a16="http://schemas.microsoft.com/office/drawing/2014/main" id="{A94B56BB-876C-4909-BB00-80211C7E1DFB}"/>
              </a:ext>
            </a:extLst>
          </p:cNvPr>
          <p:cNvSpPr txBox="1"/>
          <p:nvPr/>
        </p:nvSpPr>
        <p:spPr>
          <a:xfrm>
            <a:off x="24468564" y="21473654"/>
            <a:ext cx="276225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output</a:t>
            </a:r>
            <a:endParaRPr lang="zh-CN" altLang="en-US" sz="31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F4B4DBD-44EF-4E81-9D5E-CA39F0E7907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961890" y="9500457"/>
            <a:ext cx="12053062" cy="2241675"/>
          </a:xfrm>
          <a:prstGeom prst="rect">
            <a:avLst/>
          </a:prstGeom>
        </p:spPr>
      </p:pic>
      <p:cxnSp>
        <p:nvCxnSpPr>
          <p:cNvPr id="130" name="Google Shape;492;g314cde35949_0_0">
            <a:extLst>
              <a:ext uri="{FF2B5EF4-FFF2-40B4-BE49-F238E27FC236}">
                <a16:creationId xmlns:a16="http://schemas.microsoft.com/office/drawing/2014/main" id="{B07E676A-560C-45AD-AE64-50FE606344B2}"/>
              </a:ext>
            </a:extLst>
          </p:cNvPr>
          <p:cNvCxnSpPr>
            <a:cxnSpLocks/>
          </p:cNvCxnSpPr>
          <p:nvPr/>
        </p:nvCxnSpPr>
        <p:spPr>
          <a:xfrm flipH="1">
            <a:off x="16662263" y="9238672"/>
            <a:ext cx="1579514" cy="313975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131" name="Google Shape;499;g314cde35949_0_0">
            <a:extLst>
              <a:ext uri="{FF2B5EF4-FFF2-40B4-BE49-F238E27FC236}">
                <a16:creationId xmlns:a16="http://schemas.microsoft.com/office/drawing/2014/main" id="{F3291D5D-839D-4E32-AC29-AB07EEEC509C}"/>
              </a:ext>
            </a:extLst>
          </p:cNvPr>
          <p:cNvCxnSpPr>
            <a:cxnSpLocks/>
          </p:cNvCxnSpPr>
          <p:nvPr/>
        </p:nvCxnSpPr>
        <p:spPr>
          <a:xfrm>
            <a:off x="26108763" y="9210447"/>
            <a:ext cx="1660614" cy="313975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33" name="Google Shape;490;g314cde35949_0_0">
            <a:extLst>
              <a:ext uri="{FF2B5EF4-FFF2-40B4-BE49-F238E27FC236}">
                <a16:creationId xmlns:a16="http://schemas.microsoft.com/office/drawing/2014/main" id="{20387BAF-38A3-4EDE-A7AE-17CA4E8C6D41}"/>
              </a:ext>
            </a:extLst>
          </p:cNvPr>
          <p:cNvSpPr/>
          <p:nvPr/>
        </p:nvSpPr>
        <p:spPr>
          <a:xfrm>
            <a:off x="17028770" y="9260968"/>
            <a:ext cx="646642" cy="69842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71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493;g314cde35949_0_0">
            <a:extLst>
              <a:ext uri="{FF2B5EF4-FFF2-40B4-BE49-F238E27FC236}">
                <a16:creationId xmlns:a16="http://schemas.microsoft.com/office/drawing/2014/main" id="{D2FB4686-F612-4889-9B48-1E6919AB53C8}"/>
              </a:ext>
            </a:extLst>
          </p:cNvPr>
          <p:cNvSpPr/>
          <p:nvPr/>
        </p:nvSpPr>
        <p:spPr>
          <a:xfrm>
            <a:off x="26403261" y="9248913"/>
            <a:ext cx="646642" cy="72253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495;g314cde35949_0_0">
            <a:extLst>
              <a:ext uri="{FF2B5EF4-FFF2-40B4-BE49-F238E27FC236}">
                <a16:creationId xmlns:a16="http://schemas.microsoft.com/office/drawing/2014/main" id="{0EC9297A-D173-4B47-8B86-949CCEF9879A}"/>
              </a:ext>
            </a:extLst>
          </p:cNvPr>
          <p:cNvSpPr txBox="1"/>
          <p:nvPr/>
        </p:nvSpPr>
        <p:spPr>
          <a:xfrm>
            <a:off x="26921381" y="9286262"/>
            <a:ext cx="1660614" cy="57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time [s]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7440961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rgbClr val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626</Words>
  <Application>Microsoft Office PowerPoint</Application>
  <PresentationFormat>自定义</PresentationFormat>
  <Paragraphs>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Thème Office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*</dc:creator>
  <cp:lastModifiedBy>HU Zhenxing</cp:lastModifiedBy>
  <cp:revision>19</cp:revision>
  <dcterms:created xsi:type="dcterms:W3CDTF">2012-05-22T13:31:26Z</dcterms:created>
  <dcterms:modified xsi:type="dcterms:W3CDTF">2024-11-15T14:18:02Z</dcterms:modified>
</cp:coreProperties>
</file>